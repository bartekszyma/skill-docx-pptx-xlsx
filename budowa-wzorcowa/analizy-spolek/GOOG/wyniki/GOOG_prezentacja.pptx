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Przychody</c:v>
                </c:pt>
              </c:strCache>
            </c:strRef>
          </c:tx>
          <c:spPr>
            <a:solidFill>
              <a:srgbClr val="0F7C80"/>
            </a:solidFill>
          </c:spPr>
          <c:dLbls>
            <c:numFmt formatCode="#,##0;-#,##0" sourceLinked="0"/>
            <c:txPr>
              <a:bodyPr/>
              <a:lstStyle/>
              <a:p>
                <a:pPr>
                  <a:defRPr sz="1100">
                    <a:solidFill>
                      <a:srgbClr val="26323C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307394</c:v>
                </c:pt>
                <c:pt idx="1">
                  <c:v>350018</c:v>
                </c:pt>
                <c:pt idx="2">
                  <c:v>402836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Zysk operacyjny</c:v>
                </c:pt>
              </c:strCache>
            </c:strRef>
          </c:tx>
          <c:spPr>
            <a:solidFill>
              <a:srgbClr val="1E2A36"/>
            </a:solidFill>
          </c:spPr>
          <c:dLbls>
            <c:numFmt formatCode="#,##0;-#,##0" sourceLinked="0"/>
            <c:txPr>
              <a:bodyPr/>
              <a:lstStyle/>
              <a:p>
                <a:pPr>
                  <a:defRPr sz="1100">
                    <a:solidFill>
                      <a:srgbClr val="26323C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84293</c:v>
                </c:pt>
                <c:pt idx="1">
                  <c:v>112390</c:v>
                </c:pt>
                <c:pt idx="2">
                  <c:v>129039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C6CC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E2E6"/>
              </a:solidFill>
            </a:ln>
          </c:spPr>
        </c:majorGridlines>
        <c:numFmt formatCode="#,##0;-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B7785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26323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0"/>
              <a:t>Przychody segmentów w 2025 r., mln USD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Przychody segmentów w 2025 r., mln USD</c:v>
                </c:pt>
              </c:strCache>
            </c:strRef>
          </c:tx>
          <c:spPr>
            <a:solidFill>
              <a:srgbClr val="0F7C80"/>
            </a:solidFill>
          </c:spPr>
          <c:dLbls>
            <c:numFmt formatCode="#,##0;-#,##0" sourceLinked="0"/>
            <c:txPr>
              <a:bodyPr/>
              <a:lstStyle/>
              <a:p>
                <a:pPr>
                  <a:defRPr sz="1100">
                    <a:solidFill>
                      <a:srgbClr val="26323C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Google Services</c:v>
                </c:pt>
                <c:pt idx="1">
                  <c:v>Google Cloud</c:v>
                </c:pt>
                <c:pt idx="2">
                  <c:v>Other Bets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342721</c:v>
                </c:pt>
                <c:pt idx="1">
                  <c:v>58705</c:v>
                </c:pt>
                <c:pt idx="2">
                  <c:v>1537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C6CC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E2E6"/>
              </a:solidFill>
            </a:ln>
          </c:spPr>
        </c:majorGridlines>
        <c:numFmt formatCode="#,##0;-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B7785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6323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 za akcję</c:v>
                </c:pt>
              </c:strCache>
            </c:strRef>
          </c:tx>
          <c:dPt>
            <c:idx val="0"/>
            <c:spPr>
              <a:solidFill>
                <a:srgbClr val="0F7C80"/>
              </a:solidFill>
            </c:spPr>
          </c:dPt>
          <c:dPt>
            <c:idx val="1"/>
            <c:spPr>
              <a:solidFill>
                <a:srgbClr val="1E2A36"/>
              </a:solidFill>
            </c:spPr>
          </c:dPt>
          <c:dLbls>
            <c:numFmt formatCode="#,##0.00&quot; USD&quot;" sourceLinked="0"/>
            <c:txPr>
              <a:bodyPr/>
              <a:lstStyle/>
              <a:p>
                <a:pPr>
                  <a:defRPr sz="1400">
                    <a:solidFill>
                      <a:srgbClr val="26323C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Wartość z DCF</c:v>
                </c:pt>
                <c:pt idx="1">
                  <c:v>Kurs rynkowy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110.59103380734</c:v>
                </c:pt>
                <c:pt idx="1">
                  <c:v>336.91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FC6CC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numFmt formatCode="#,##0;-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B7785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6323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Alphabet Inc.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8FC9C6"/>
                </a:solidFill>
                <a:latin typeface="Calibri"/>
              </a:rPr>
              <a:t>Pakiet analityczny  |  GOOG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Dane finansowe: Alphabet Inc. - raport roczny 10-K za 2025 r.</a:t>
            </a:r>
            <a:r>
              <a:rPr sz="1000" b="0">
                <a:solidFill>
                  <a:srgbClr val="6B7785"/>
                </a:solidFill>
                <a:latin typeface="Calibri"/>
              </a:rPr>
              <a:t>  [F-01]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Dane rynkowe: kurs z dnia 2026-10-16, pobrane 2026-10-17</a:t>
            </a:r>
            <a:r>
              <a:rPr sz="1000" b="0">
                <a:solidFill>
                  <a:srgbClr val="6B7785"/>
                </a:solidFill>
                <a:latin typeface="Calibri"/>
              </a:rPr>
              <a:t>  [R-01]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Wycena DCF z dnia 2026-10-17</a:t>
            </a:r>
            <a:r>
              <a:rPr sz="1000" b="0">
                <a:solidFill>
                  <a:srgbClr val="6B7785"/>
                </a:solidFill>
                <a:latin typeface="Calibri"/>
              </a:rPr>
              <a:t>  [wycena]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FC9C6"/>
                </a:solidFill>
                <a:latin typeface="Calibri"/>
              </a:rPr>
              <a:t>GOOG - pakiet analityczny. Dane: ledger.json i wycena.json; [id] = wpis ledgera.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FC9C6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E2A36"/>
                </a:solidFill>
                <a:latin typeface="Calibri"/>
              </a:rPr>
              <a:t>Spółka w liczbach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785"/>
                </a:solidFill>
                <a:latin typeface="Calibri"/>
              </a:rPr>
              <a:t>Przychody i wynik operacyjny w latach 2023-2025, mln USD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00200"/>
          <a:ext cx="694944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760720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Źródło: rachunek zysków i strat, raport 10-K, s. 49</a:t>
            </a:r>
            <a:r>
              <a:rPr sz="1000" b="0">
                <a:solidFill>
                  <a:srgbClr val="6B7785"/>
                </a:solidFill>
                <a:latin typeface="Calibri"/>
              </a:rPr>
              <a:t>  [F-03, F-02, F-01, F-06, F-05, F-04]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00200"/>
            <a:ext cx="3657600" cy="1280160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79" y="1764792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7C80"/>
                </a:solidFill>
                <a:latin typeface="Calibri"/>
              </a:rPr>
              <a:t>132 170 mln USD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23774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323C"/>
                </a:solidFill>
                <a:latin typeface="Calibri"/>
              </a:rPr>
              <a:t>zysk netto w 2025 r.</a:t>
            </a:r>
            <a:r>
              <a:rPr sz="1000" b="0">
                <a:solidFill>
                  <a:srgbClr val="6B7785"/>
                </a:solidFill>
                <a:latin typeface="Calibri"/>
              </a:rPr>
              <a:t>  [F-07]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3063240"/>
            <a:ext cx="3657600" cy="1280160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3227832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7C80"/>
                </a:solidFill>
                <a:latin typeface="Calibri"/>
              </a:rPr>
              <a:t>32,0%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38404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323C"/>
                </a:solidFill>
                <a:latin typeface="Calibri"/>
              </a:rPr>
              <a:t>marża operacyjna w 2025 r.</a:t>
            </a:r>
            <a:r>
              <a:rPr sz="1000" b="0">
                <a:solidFill>
                  <a:srgbClr val="6B7785"/>
                </a:solidFill>
                <a:latin typeface="Calibri"/>
              </a:rPr>
              <a:t>  [wycena]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4526280"/>
            <a:ext cx="3657600" cy="1280160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4690872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7C80"/>
                </a:solidFill>
                <a:latin typeface="Calibri"/>
              </a:rPr>
              <a:t>242,80 mld USD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53035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323C"/>
                </a:solidFill>
                <a:latin typeface="Calibri"/>
              </a:rPr>
              <a:t>portfel zamówień na koniec 2025 r., głównie Google Cloud</a:t>
            </a:r>
            <a:r>
              <a:rPr sz="1000" b="0">
                <a:solidFill>
                  <a:srgbClr val="6B7785"/>
                </a:solidFill>
                <a:latin typeface="Calibri"/>
              </a:rPr>
              <a:t>  [F-32]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GOOG - pakiet analityczny. Dane: ledger.json i wycena.json; [id] = wpis ledgera.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78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E2A36"/>
                </a:solidFill>
                <a:latin typeface="Calibri"/>
              </a:rPr>
              <a:t>AI i segmenty Alphabet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785"/>
                </a:solidFill>
                <a:latin typeface="Calibri"/>
              </a:rPr>
              <a:t>Google Services zarabia najwięcej, Google Cloud rośnie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84480" indent="-284480">
              <a:spcAft>
                <a:spcPts val="1000"/>
              </a:spcAft>
              <a:buClr>
                <a:srgbClr val="0F7C80"/>
              </a:buClr>
              <a:buSzPct val="75000"/>
              <a:buFont typeface="Arial"/>
              <a:buChar char="■"/>
            </a:pPr>
            <a:r>
              <a:rPr sz="1600" b="0">
                <a:solidFill>
                  <a:srgbClr val="26323C"/>
                </a:solidFill>
                <a:latin typeface="Calibri"/>
              </a:rPr>
              <a:t>Gemini 3 to według spółki jej najbardziej inteligentny model AI</a:t>
            </a:r>
            <a:r>
              <a:rPr sz="1000" b="0">
                <a:solidFill>
                  <a:srgbClr val="6B7785"/>
                </a:solidFill>
                <a:latin typeface="Calibri"/>
              </a:rPr>
              <a:t>  [F-29]</a:t>
            </a:r>
          </a:p>
          <a:p>
            <a:pPr algn="l" marL="284480" indent="-284480">
              <a:spcAft>
                <a:spcPts val="1000"/>
              </a:spcAft>
              <a:buClr>
                <a:srgbClr val="0F7C80"/>
              </a:buClr>
              <a:buSzPct val="75000"/>
              <a:buFont typeface="Arial"/>
              <a:buChar char="■"/>
            </a:pPr>
            <a:r>
              <a:rPr sz="1600" b="0">
                <a:solidFill>
                  <a:srgbClr val="26323C"/>
                </a:solidFill>
                <a:latin typeface="Calibri"/>
              </a:rPr>
              <a:t>Modele Gemini działają we wszystkich 15 produktach z ponad pół miliardem użytkowników</a:t>
            </a:r>
            <a:r>
              <a:rPr sz="1000" b="0">
                <a:solidFill>
                  <a:srgbClr val="6B7785"/>
                </a:solidFill>
                <a:latin typeface="Calibri"/>
              </a:rPr>
              <a:t>  [F-30]</a:t>
            </a:r>
          </a:p>
          <a:p>
            <a:pPr algn="l" marL="284480" indent="-284480">
              <a:spcAft>
                <a:spcPts val="1000"/>
              </a:spcAft>
              <a:buClr>
                <a:srgbClr val="0F7C80"/>
              </a:buClr>
              <a:buSzPct val="75000"/>
              <a:buFont typeface="Arial"/>
              <a:buChar char="■"/>
            </a:pPr>
            <a:r>
              <a:rPr sz="1600" b="0">
                <a:solidFill>
                  <a:srgbClr val="26323C"/>
                </a:solidFill>
                <a:latin typeface="Calibri"/>
              </a:rPr>
              <a:t>Własne układy AI: Ironwood, TPU siódmej generacji</a:t>
            </a:r>
            <a:r>
              <a:rPr sz="1000" b="0">
                <a:solidFill>
                  <a:srgbClr val="6B7785"/>
                </a:solidFill>
                <a:latin typeface="Calibri"/>
              </a:rPr>
              <a:t>  [F-31]</a:t>
            </a:r>
          </a:p>
          <a:p>
            <a:pPr algn="l" marL="284480" indent="-284480">
              <a:spcAft>
                <a:spcPts val="1000"/>
              </a:spcAft>
              <a:buClr>
                <a:srgbClr val="0F7C80"/>
              </a:buClr>
              <a:buSzPct val="75000"/>
              <a:buFont typeface="Arial"/>
              <a:buChar char="■"/>
            </a:pPr>
            <a:r>
              <a:rPr sz="1600" b="0">
                <a:solidFill>
                  <a:srgbClr val="26323C"/>
                </a:solidFill>
                <a:latin typeface="Calibri"/>
              </a:rPr>
              <a:t>Zysk operacyjny Google Cloud: 13 910 mln USD; strata Other Bets: 7 515 mln USD</a:t>
            </a:r>
            <a:r>
              <a:rPr sz="1000" b="0">
                <a:solidFill>
                  <a:srgbClr val="6B7785"/>
                </a:solidFill>
                <a:latin typeface="Calibri"/>
              </a:rPr>
              <a:t>  [F-26, F-27]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583680" y="1600200"/>
          <a:ext cx="502920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0" y="58978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Źródło: Item 7, raport 10-K, s. 33</a:t>
            </a:r>
            <a:r>
              <a:rPr sz="1000" b="0">
                <a:solidFill>
                  <a:srgbClr val="6B7785"/>
                </a:solidFill>
                <a:latin typeface="Calibri"/>
              </a:rPr>
              <a:t>  [F-22, F-23, F-24]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GOOG - pakiet analityczny. Dane: ledger.json i wycena.json; [id] = wpis ledgera.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78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E2A36"/>
                </a:solidFill>
                <a:latin typeface="Calibri"/>
              </a:rPr>
              <a:t>Waymo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785"/>
                </a:solidFill>
                <a:latin typeface="Calibri"/>
              </a:rPr>
              <a:t>Autonomiczne przejazdy w segmencie Other Bets</a:t>
            </a:r>
          </a:p>
        </p:txBody>
      </p:sp>
      <p:pic>
        <p:nvPicPr>
          <p:cNvPr id="4" name="Picture 3" descr="waymo-jaguar-i-pace-in-san-francisco-2023-dll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" y="1600200"/>
            <a:ext cx="524256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05272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Autonomiczny samochód Waymo (Jaguar I-Pace) w San Francisco, bez kierowcy. Fot. Dllu, licencja CC BY 4.0, Wikimedia Commons</a:t>
            </a:r>
            <a:r>
              <a:rPr sz="1000" b="0">
                <a:solidFill>
                  <a:srgbClr val="6B7785"/>
                </a:solidFill>
                <a:latin typeface="Calibri"/>
              </a:rPr>
              <a:t>  [G-01]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600200"/>
            <a:ext cx="4937760" cy="4251960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95160" y="1874519"/>
            <a:ext cx="43891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02260" indent="-302260">
              <a:spcAft>
                <a:spcPts val="1400"/>
              </a:spcAft>
              <a:buClr>
                <a:srgbClr val="0F7C80"/>
              </a:buClr>
              <a:buSzPct val="75000"/>
              <a:buFont typeface="Arial"/>
              <a:buChar char="■"/>
            </a:pPr>
            <a:r>
              <a:rPr sz="1700" b="0">
                <a:solidFill>
                  <a:srgbClr val="26323C"/>
                </a:solidFill>
                <a:latin typeface="Calibri"/>
              </a:rPr>
              <a:t>Waymo świadczy w pełni autonomiczne, płatne przejazdy w wielu miastach</a:t>
            </a:r>
            <a:r>
              <a:rPr sz="1000" b="0">
                <a:solidFill>
                  <a:srgbClr val="6B7785"/>
                </a:solidFill>
                <a:latin typeface="Calibri"/>
              </a:rPr>
              <a:t>  [F-33]</a:t>
            </a:r>
          </a:p>
          <a:p>
            <a:pPr algn="l" marL="302260" indent="-302260">
              <a:spcAft>
                <a:spcPts val="1400"/>
              </a:spcAft>
              <a:buClr>
                <a:srgbClr val="0F7C80"/>
              </a:buClr>
              <a:buSzPct val="75000"/>
              <a:buFont typeface="Arial"/>
              <a:buChar char="■"/>
            </a:pPr>
            <a:r>
              <a:rPr sz="1700" b="0">
                <a:solidFill>
                  <a:srgbClr val="26323C"/>
                </a:solidFill>
                <a:latin typeface="Calibri"/>
              </a:rPr>
              <a:t>W lutym 2026 r. Waymo ogłosiło rundę finansowania 16 mld USD, w większości od Alphabet</a:t>
            </a:r>
            <a:r>
              <a:rPr sz="1000" b="0">
                <a:solidFill>
                  <a:srgbClr val="6B7785"/>
                </a:solidFill>
                <a:latin typeface="Calibri"/>
              </a:rPr>
              <a:t>  [F-34]</a:t>
            </a:r>
          </a:p>
          <a:p>
            <a:pPr algn="l" marL="302260" indent="-302260">
              <a:spcAft>
                <a:spcPts val="1400"/>
              </a:spcAft>
              <a:buClr>
                <a:srgbClr val="0F7C80"/>
              </a:buClr>
              <a:buSzPct val="75000"/>
              <a:buFont typeface="Arial"/>
              <a:buChar char="■"/>
            </a:pPr>
            <a:r>
              <a:rPr sz="1700" b="0">
                <a:solidFill>
                  <a:srgbClr val="26323C"/>
                </a:solidFill>
                <a:latin typeface="Calibri"/>
              </a:rPr>
              <a:t>Strata operacyjna całego segmentu Other Bets w 2025 r.: 7 515 mln USD</a:t>
            </a:r>
            <a:r>
              <a:rPr sz="1000" b="0">
                <a:solidFill>
                  <a:srgbClr val="6B7785"/>
                </a:solidFill>
                <a:latin typeface="Calibri"/>
              </a:rPr>
              <a:t>  [F-27]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GOOG - pakiet analityczny. Dane: ledger.json i wycena.json; [id] = wpis ledgera.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78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E2A36"/>
                </a:solidFill>
                <a:latin typeface="Calibri"/>
              </a:rPr>
              <a:t>Infrastruktura i centra danych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785"/>
                </a:solidFill>
                <a:latin typeface="Calibri"/>
              </a:rPr>
              <a:t>Największy kierunek nakładów inwestycyjnych</a:t>
            </a:r>
          </a:p>
        </p:txBody>
      </p:sp>
      <p:pic>
        <p:nvPicPr>
          <p:cNvPr id="4" name="Picture 3" descr="google-data-center-council-bluffs-iowa-490628637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852160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965192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Centrum danych Google w Council Bluffs (Iowa), widok z lotu ptaka. Fot. Chad Davis, licencja CC BY 2.0, Wikimedia Commons</a:t>
            </a:r>
            <a:r>
              <a:rPr sz="1000" b="0">
                <a:solidFill>
                  <a:srgbClr val="6B7785"/>
                </a:solidFill>
                <a:latin typeface="Calibri"/>
              </a:rPr>
              <a:t>  [G-02]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600200"/>
            <a:ext cx="4937760" cy="4251960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95160" y="1874519"/>
            <a:ext cx="43891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02260" indent="-302260">
              <a:spcAft>
                <a:spcPts val="1400"/>
              </a:spcAft>
              <a:buClr>
                <a:srgbClr val="0F7C80"/>
              </a:buClr>
              <a:buSzPct val="75000"/>
              <a:buFont typeface="Arial"/>
              <a:buChar char="■"/>
            </a:pPr>
            <a:r>
              <a:rPr sz="1700" b="0">
                <a:solidFill>
                  <a:srgbClr val="26323C"/>
                </a:solidFill>
                <a:latin typeface="Calibri"/>
              </a:rPr>
              <a:t>Nakłady inwestycyjne w 2025 r.: 91 447 mln USD</a:t>
            </a:r>
            <a:r>
              <a:rPr sz="1000" b="0">
                <a:solidFill>
                  <a:srgbClr val="6B7785"/>
                </a:solidFill>
                <a:latin typeface="Calibri"/>
              </a:rPr>
              <a:t>  [F-09]</a:t>
            </a:r>
          </a:p>
          <a:p>
            <a:pPr algn="l" marL="302260" indent="-302260">
              <a:spcAft>
                <a:spcPts val="1400"/>
              </a:spcAft>
              <a:buClr>
                <a:srgbClr val="0F7C80"/>
              </a:buClr>
              <a:buSzPct val="75000"/>
              <a:buFont typeface="Arial"/>
              <a:buChar char="■"/>
            </a:pPr>
            <a:r>
              <a:rPr sz="1700" b="0">
                <a:solidFill>
                  <a:srgbClr val="26323C"/>
                </a:solidFill>
                <a:latin typeface="Calibri"/>
              </a:rPr>
              <a:t>Majątek trwały netto wzrósł z 171 036 mln USD do 246 597 mln USD w ciągu 2025 r.</a:t>
            </a:r>
            <a:r>
              <a:rPr sz="1000" b="0">
                <a:solidFill>
                  <a:srgbClr val="6B7785"/>
                </a:solidFill>
                <a:latin typeface="Calibri"/>
              </a:rPr>
              <a:t>  [F-16, F-15]</a:t>
            </a:r>
          </a:p>
          <a:p>
            <a:pPr algn="l" marL="302260" indent="-302260">
              <a:spcAft>
                <a:spcPts val="1400"/>
              </a:spcAft>
              <a:buClr>
                <a:srgbClr val="0F7C80"/>
              </a:buClr>
              <a:buSzPct val="75000"/>
              <a:buFont typeface="Arial"/>
              <a:buChar char="■"/>
            </a:pPr>
            <a:r>
              <a:rPr sz="1700" b="0">
                <a:solidFill>
                  <a:srgbClr val="26323C"/>
                </a:solidFill>
                <a:latin typeface="Calibri"/>
              </a:rPr>
              <a:t>W 2026 r. spółka zapowiada znaczący wzrost inwestycji w serwery, sieć i centra danych</a:t>
            </a:r>
            <a:r>
              <a:rPr sz="1000" b="0">
                <a:solidFill>
                  <a:srgbClr val="6B7785"/>
                </a:solidFill>
                <a:latin typeface="Calibri"/>
              </a:rPr>
              <a:t>  [F-36]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GOOG - pakiet analityczny. Dane: ledger.json i wycena.json; [id] = wpis ledgera.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78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E2A36"/>
                </a:solidFill>
                <a:latin typeface="Calibri"/>
              </a:rPr>
              <a:t>Wycena DCF: wartość wobec kursu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785"/>
                </a:solidFill>
                <a:latin typeface="Calibri"/>
              </a:rPr>
              <a:t>Wynik modelu z pliku GOOG_DCF.xlsx; zależy od przyjętych założeń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00200"/>
          <a:ext cx="5669280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069080"/>
            <a:ext cx="56692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B03A2E"/>
                </a:solidFill>
                <a:latin typeface="Calibri"/>
              </a:rPr>
              <a:t>-67,2%</a:t>
            </a:r>
            <a:r>
              <a:rPr sz="1600" b="0">
                <a:solidFill>
                  <a:srgbClr val="26323C"/>
                </a:solidFill>
                <a:latin typeface="Calibri"/>
              </a:rPr>
              <a:t>  różnica wartości z DCF wobec kursu</a:t>
            </a:r>
            <a:r>
              <a:rPr sz="1000" b="0">
                <a:solidFill>
                  <a:srgbClr val="6B7785"/>
                </a:solidFill>
                <a:latin typeface="Calibri"/>
              </a:rPr>
              <a:t>  [wycena, R-01]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5669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323C"/>
                </a:solidFill>
                <a:latin typeface="Calibri"/>
              </a:rPr>
              <a:t>Wartość firmy 1 257 524 mln USD, kapitał własny 1 337 820 mln USD; 89% wartości firmy pochodzi z okresu po 2030 r.</a:t>
            </a:r>
            <a:r>
              <a:rPr sz="1000" b="0">
                <a:solidFill>
                  <a:srgbClr val="6B7785"/>
                </a:solidFill>
                <a:latin typeface="Calibri"/>
              </a:rPr>
              <a:t>  [wycena]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600200"/>
            <a:ext cx="5029200" cy="4251960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783080"/>
            <a:ext cx="4480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B03A2E"/>
                </a:solidFill>
                <a:latin typeface="Calibri"/>
              </a:rPr>
              <a:t>To są ZAŁOŻENIA, nie fakty</a:t>
            </a:r>
          </a:p>
          <a:p>
            <a:pPr algn="l"/>
            <a:r>
              <a:rPr sz="1200" b="0">
                <a:solidFill>
                  <a:srgbClr val="6B7785"/>
                </a:solidFill>
                <a:latin typeface="Calibri"/>
              </a:rPr>
              <a:t>Przyjęte przez nas, z uzasadnieniem w ledgerze; zmiana założeń zmienia wynik.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2697480"/>
            <a:ext cx="448056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66700" indent="-266700">
              <a:spcAft>
                <a:spcPts val="900"/>
              </a:spcAft>
              <a:buClr>
                <a:srgbClr val="0F7C80"/>
              </a:buClr>
              <a:buSzPct val="75000"/>
              <a:buFont typeface="Arial"/>
              <a:buChar char="■"/>
            </a:pPr>
            <a:r>
              <a:rPr sz="1500" b="0">
                <a:solidFill>
                  <a:srgbClr val="26323C"/>
                </a:solidFill>
                <a:latin typeface="Calibri"/>
              </a:rPr>
              <a:t>Wzrost przychodów: 14% w 2026 r., 6% w 2030 r.</a:t>
            </a:r>
            <a:r>
              <a:rPr sz="1000" b="0">
                <a:solidFill>
                  <a:srgbClr val="6B7785"/>
                </a:solidFill>
                <a:latin typeface="Calibri"/>
              </a:rPr>
              <a:t>  [Z-01, Z-05]</a:t>
            </a:r>
          </a:p>
          <a:p>
            <a:pPr algn="l" marL="266700" indent="-266700">
              <a:spcAft>
                <a:spcPts val="900"/>
              </a:spcAft>
              <a:buClr>
                <a:srgbClr val="0F7C80"/>
              </a:buClr>
              <a:buSzPct val="75000"/>
              <a:buFont typeface="Arial"/>
              <a:buChar char="■"/>
            </a:pPr>
            <a:r>
              <a:rPr sz="1500" b="0">
                <a:solidFill>
                  <a:srgbClr val="26323C"/>
                </a:solidFill>
                <a:latin typeface="Calibri"/>
              </a:rPr>
              <a:t>Marża operacyjna po 2030 r.: 29%</a:t>
            </a:r>
            <a:r>
              <a:rPr sz="1000" b="0">
                <a:solidFill>
                  <a:srgbClr val="6B7785"/>
                </a:solidFill>
                <a:latin typeface="Calibri"/>
              </a:rPr>
              <a:t>  [Z-11]</a:t>
            </a:r>
          </a:p>
          <a:p>
            <a:pPr algn="l" marL="266700" indent="-266700">
              <a:spcAft>
                <a:spcPts val="900"/>
              </a:spcAft>
              <a:buClr>
                <a:srgbClr val="0F7C80"/>
              </a:buClr>
              <a:buSzPct val="75000"/>
              <a:buFont typeface="Arial"/>
              <a:buChar char="■"/>
            </a:pPr>
            <a:r>
              <a:rPr sz="1500" b="0">
                <a:solidFill>
                  <a:srgbClr val="26323C"/>
                </a:solidFill>
                <a:latin typeface="Calibri"/>
              </a:rPr>
              <a:t>Nakłady inwestycyjne w 2026 r.: 35% przychodów</a:t>
            </a:r>
            <a:r>
              <a:rPr sz="1000" b="0">
                <a:solidFill>
                  <a:srgbClr val="6B7785"/>
                </a:solidFill>
                <a:latin typeface="Calibri"/>
              </a:rPr>
              <a:t>  [Z-12]</a:t>
            </a:r>
          </a:p>
          <a:p>
            <a:pPr algn="l" marL="266700" indent="-266700">
              <a:spcAft>
                <a:spcPts val="900"/>
              </a:spcAft>
              <a:buClr>
                <a:srgbClr val="0F7C80"/>
              </a:buClr>
              <a:buSzPct val="75000"/>
              <a:buFont typeface="Arial"/>
              <a:buChar char="■"/>
            </a:pPr>
            <a:r>
              <a:rPr sz="1500" b="0">
                <a:solidFill>
                  <a:srgbClr val="26323C"/>
                </a:solidFill>
                <a:latin typeface="Calibri"/>
              </a:rPr>
              <a:t>WACC 10,6% = rentowność obligacji 5,10% + beta 1,1 × premia 5,0%</a:t>
            </a:r>
            <a:r>
              <a:rPr sz="1000" b="0">
                <a:solidFill>
                  <a:srgbClr val="6B7785"/>
                </a:solidFill>
                <a:latin typeface="Calibri"/>
              </a:rPr>
              <a:t>  [wycena, R-02, Z-23, Z-24]</a:t>
            </a:r>
          </a:p>
          <a:p>
            <a:pPr algn="l" marL="266700" indent="-266700">
              <a:spcAft>
                <a:spcPts val="900"/>
              </a:spcAft>
              <a:buClr>
                <a:srgbClr val="0F7C80"/>
              </a:buClr>
              <a:buSzPct val="75000"/>
              <a:buFont typeface="Arial"/>
              <a:buChar char="■"/>
            </a:pPr>
            <a:r>
              <a:rPr sz="1500" b="0">
                <a:solidFill>
                  <a:srgbClr val="26323C"/>
                </a:solidFill>
                <a:latin typeface="Calibri"/>
              </a:rPr>
              <a:t>Wzrost po 2030 r.: 3,0% rocznie</a:t>
            </a:r>
            <a:r>
              <a:rPr sz="1000" b="0">
                <a:solidFill>
                  <a:srgbClr val="6B7785"/>
                </a:solidFill>
                <a:latin typeface="Calibri"/>
              </a:rPr>
              <a:t>  [Z-25]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GOOG - pakiet analityczny. Dane: ledger.json i wycena.json; [id] = wpis ledgera.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78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E2A36"/>
                </a:solidFill>
                <a:latin typeface="Calibri"/>
              </a:rPr>
              <a:t>Ryzyka i źródła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6035040" cy="1325880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5577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B03A2E"/>
                </a:solidFill>
                <a:latin typeface="Calibri"/>
              </a:rPr>
              <a:t>Zależność od reklam</a:t>
            </a:r>
          </a:p>
          <a:p>
            <a:pPr algn="l"/>
            <a:r>
              <a:rPr sz="1300" b="0">
                <a:solidFill>
                  <a:srgbClr val="26323C"/>
                </a:solidFill>
                <a:latin typeface="Calibri"/>
              </a:rPr>
              <a:t>Duża część przychodów pochodzi z reklam; mniejsze wydatki reklamodawców, utrata partnerów, zmiany w reklamie online lub blokowanie reklam mogą zaszkodzić biznesowi</a:t>
            </a:r>
            <a:r>
              <a:rPr sz="1000" b="0">
                <a:solidFill>
                  <a:srgbClr val="6B7785"/>
                </a:solidFill>
                <a:latin typeface="Calibri"/>
              </a:rPr>
              <a:t>  [F-39]</a:t>
            </a:r>
            <a:r>
              <a:rPr sz="1000" b="0">
                <a:solidFill>
                  <a:srgbClr val="6B7785"/>
                </a:solidFill>
                <a:latin typeface="Calibri"/>
              </a:rPr>
              <a:t>  10-K, s.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43200"/>
            <a:ext cx="6035040" cy="1325880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880360"/>
            <a:ext cx="5577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B03A2E"/>
                </a:solidFill>
                <a:latin typeface="Calibri"/>
              </a:rPr>
              <a:t>Ryzykowne inwestycje w nowe obszary (w tym AI)</a:t>
            </a:r>
          </a:p>
          <a:p>
            <a:pPr algn="l"/>
            <a:r>
              <a:rPr sz="1300" b="0">
                <a:solidFill>
                  <a:srgbClr val="26323C"/>
                </a:solidFill>
                <a:latin typeface="Calibri"/>
              </a:rPr>
              <a:t>Rosnące inwestycje w nowe biznesy, produkty i technologie są z natury ryzykowne i mogą zaszkodzić wynikom</a:t>
            </a:r>
            <a:r>
              <a:rPr sz="1000" b="0">
                <a:solidFill>
                  <a:srgbClr val="6B7785"/>
                </a:solidFill>
                <a:latin typeface="Calibri"/>
              </a:rPr>
              <a:t>  [F-40]</a:t>
            </a:r>
            <a:r>
              <a:rPr sz="1000" b="0">
                <a:solidFill>
                  <a:srgbClr val="6B7785"/>
                </a:solidFill>
                <a:latin typeface="Calibri"/>
              </a:rPr>
              <a:t>  10-K, s.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206240"/>
            <a:ext cx="6035040" cy="1325880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343400"/>
            <a:ext cx="5577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B03A2E"/>
                </a:solidFill>
                <a:latin typeface="Calibri"/>
              </a:rPr>
              <a:t>Spory prawne i regulacje (w tym konkurencja)</a:t>
            </a:r>
          </a:p>
          <a:p>
            <a:pPr algn="l"/>
            <a:r>
              <a:rPr sz="1300" b="0">
                <a:solidFill>
                  <a:srgbClr val="26323C"/>
                </a:solidFill>
                <a:latin typeface="Calibri"/>
              </a:rPr>
              <a:t>Pozwy, postępowania regulacyjne i antymonopolowe mogą zaszkodzić biznesowi, reputacji i wynikom</a:t>
            </a:r>
            <a:r>
              <a:rPr sz="1000" b="0">
                <a:solidFill>
                  <a:srgbClr val="6B7785"/>
                </a:solidFill>
                <a:latin typeface="Calibri"/>
              </a:rPr>
              <a:t>  [F-41]</a:t>
            </a:r>
            <a:r>
              <a:rPr sz="1000" b="0">
                <a:solidFill>
                  <a:srgbClr val="6B7785"/>
                </a:solidFill>
                <a:latin typeface="Calibri"/>
              </a:rPr>
              <a:t>  10-K, s.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2801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2A36"/>
                </a:solidFill>
                <a:latin typeface="Calibri"/>
              </a:rPr>
              <a:t>Źródła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737360"/>
            <a:ext cx="46634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6323C"/>
                </a:solidFill>
                <a:latin typeface="Calibri"/>
              </a:rPr>
              <a:t>Alphabet Inc. - raport roczny 10-K za 2025 r.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26323C"/>
                </a:solidFill>
                <a:latin typeface="Calibri"/>
              </a:rPr>
              <a:t>SEC EDGAR, strony: 4, 9, 18, 33, 36, 37, 38, 48, 49, 52, 60, druga strona okładki (bez numeru)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6323C"/>
                </a:solidFill>
                <a:latin typeface="Calibri"/>
              </a:rPr>
              <a:t>Yahoo Finance - chart API (odpowiedź JSON)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26323C"/>
                </a:solidFill>
                <a:latin typeface="Calibri"/>
              </a:rPr>
              <a:t>Kurs zamknięcia akcji GOOG (klasa C, Nasdaq), ostatnia sesja; zaokrąglony do centów; stan na 2026-10-16, pobrano 2026-10-17</a:t>
            </a:r>
            <a:r>
              <a:rPr sz="1000" b="0">
                <a:solidFill>
                  <a:srgbClr val="6B7785"/>
                </a:solidFill>
                <a:latin typeface="Calibri"/>
              </a:rPr>
              <a:t>  [R-01]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6323C"/>
                </a:solidFill>
                <a:latin typeface="Calibri"/>
              </a:rPr>
              <a:t>FRED, Federal Reserve Bank of St. Louis - seria DGS10 (CSV)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26323C"/>
                </a:solidFill>
                <a:latin typeface="Calibri"/>
              </a:rPr>
              <a:t>Rentowność 10-letnich obligacji skarbowych USA (seria DGS10); stan na 2026-10-15, pobrano 2026-10-17</a:t>
            </a:r>
            <a:r>
              <a:rPr sz="1000" b="0">
                <a:solidFill>
                  <a:srgbClr val="6B7785"/>
                </a:solidFill>
                <a:latin typeface="Calibri"/>
              </a:rPr>
              <a:t>  [R-02]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6323C"/>
                </a:solidFill>
                <a:latin typeface="Calibri"/>
              </a:rPr>
              <a:t>Wikimedia Commons - zdjęcia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26323C"/>
                </a:solidFill>
                <a:latin typeface="Calibri"/>
              </a:rPr>
              <a:t>Dllu (CC BY 4.0); Chad Davis (CC BY 2.0)</a:t>
            </a:r>
            <a:r>
              <a:rPr sz="1000" b="0">
                <a:solidFill>
                  <a:srgbClr val="6B7785"/>
                </a:solidFill>
                <a:latin typeface="Calibri"/>
              </a:rPr>
              <a:t>  [G-01, G-02]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6323C"/>
                </a:solidFill>
                <a:latin typeface="Calibri"/>
              </a:rPr>
              <a:t>Ledger i weryfikacja</a:t>
            </a:r>
          </a:p>
          <a:p>
            <a:pPr algn="l"/>
            <a:r>
              <a:rPr sz="1200" b="0">
                <a:solidFill>
                  <a:srgbClr val="26323C"/>
                </a:solidFill>
                <a:latin typeface="Calibri"/>
              </a:rPr>
              <a:t>GOOG/ledger.json: każdy wpis ze źródłem i cytatem, sprawdzony dwiema bramkami (skrypt i niezależny model)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GOOG - pakiet analityczny. Dane: ledger.json i wycena.json; [id] = wpis ledgera.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78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 - pakiet analityczny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pl-PL</dc:language>
</cp:coreProperties>
</file>