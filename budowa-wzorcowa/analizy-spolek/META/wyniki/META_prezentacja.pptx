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Przychody</c:v>
                </c:pt>
              </c:strCache>
            </c:strRef>
          </c:tx>
          <c:spPr>
            <a:solidFill>
              <a:srgbClr val="0F7C80"/>
            </a:solidFill>
          </c:spPr>
          <c:dLbls>
            <c:numFmt formatCode="#,##0;-#,##0" sourceLinked="0"/>
            <c:txPr>
              <a:bodyPr/>
              <a:lstStyle/>
              <a:p>
                <a:pPr>
                  <a:defRPr sz="11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134902</c:v>
                </c:pt>
                <c:pt idx="1">
                  <c:v>164501</c:v>
                </c:pt>
                <c:pt idx="2">
                  <c:v>200966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Zysk operacyjny</c:v>
                </c:pt>
              </c:strCache>
            </c:strRef>
          </c:tx>
          <c:spPr>
            <a:solidFill>
              <a:srgbClr val="1E2A36"/>
            </a:solidFill>
          </c:spPr>
          <c:dLbls>
            <c:numFmt formatCode="#,##0;-#,##0" sourceLinked="0"/>
            <c:txPr>
              <a:bodyPr/>
              <a:lstStyle/>
              <a:p>
                <a:pPr>
                  <a:defRPr sz="11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46751</c:v>
                </c:pt>
                <c:pt idx="1">
                  <c:v>69380</c:v>
                </c:pt>
                <c:pt idx="2">
                  <c:v>83276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6C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2E6"/>
              </a:solidFill>
            </a:ln>
          </c:spPr>
        </c:majorGridlines>
        <c:numFmt formatCode="#,##0;-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6323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/>
              <a:t>Przychody segmentów w 2025 r., mln USD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Przychody 2025, mln USD</c:v>
                </c:pt>
              </c:strCache>
            </c:strRef>
          </c:tx>
          <c:invertIfNegative val="0"/>
          <c:dPt>
            <c:idx val="0"/>
            <c:spPr>
              <a:solidFill>
                <a:srgbClr val="0F7C80"/>
              </a:solidFill>
            </c:spPr>
          </c:dPt>
          <c:dPt>
            <c:idx val="1"/>
            <c:spPr>
              <a:solidFill>
                <a:srgbClr val="B03A2E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Family of Apps</c:v>
                </c:pt>
                <c:pt idx="1">
                  <c:v>Reality Labs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198759</c:v>
                </c:pt>
                <c:pt idx="1">
                  <c:v>2207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6C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2E6"/>
              </a:solidFill>
            </a:ln>
          </c:spPr>
        </c:majorGridlines>
        <c:numFmt formatCode="#,##0;-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323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za akcję</c:v>
                </c:pt>
              </c:strCache>
            </c:strRef>
          </c:tx>
          <c:dPt>
            <c:idx val="0"/>
            <c:spPr>
              <a:solidFill>
                <a:srgbClr val="0F7C80"/>
              </a:solidFill>
            </c:spPr>
          </c:dPt>
          <c:dPt>
            <c:idx val="1"/>
            <c:spPr>
              <a:solidFill>
                <a:srgbClr val="1E2A36"/>
              </a:solidFill>
            </c:spPr>
          </c:dPt>
          <c:dLbls>
            <c:numFmt formatCode="#,##0.00&quot; USD&quot;" sourceLinked="0"/>
            <c:txPr>
              <a:bodyPr/>
              <a:lstStyle/>
              <a:p>
                <a:pPr>
                  <a:defRPr sz="14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Wartość z DCF</c:v>
                </c:pt>
                <c:pt idx="1">
                  <c:v>Kurs rynkowy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344.992733472931</c:v>
                </c:pt>
                <c:pt idx="1">
                  <c:v>709.33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6C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323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Meta Platforms,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8FC9C6"/>
                </a:solidFill>
                <a:latin typeface="Calibri"/>
              </a:rPr>
              <a:t>Pakiet analityczny  | 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Dane finansowe: Meta Platforms, Inc. - raport roczny 10-K za 2025 r.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[F-01]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Dane rynkowe: kurs z dnia 2026-10-16, pobrane 2026-10-17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[R-01]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Wycena DCF z dnia 2026-10-17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[wycena]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C9C6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FC9C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A36"/>
                </a:solidFill>
                <a:latin typeface="Calibri"/>
              </a:rPr>
              <a:t>Spółka w liczbach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Calibri"/>
              </a:rPr>
              <a:t>Przychody i zysk operacyjny w latach 2023-2025, mln USD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69494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978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Źródło: rachunek zysków i strat, raport 10-K, s. 89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[F-03, F-02, F-01, F-06, F-05, F-04]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002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76479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7C80"/>
                </a:solidFill>
                <a:latin typeface="Calibri"/>
              </a:rPr>
              <a:t>60 458 mln USD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23C"/>
                </a:solidFill>
                <a:latin typeface="Calibri"/>
              </a:rPr>
              <a:t>zysk netto w 2025 r.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[F-07]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0632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322783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7C80"/>
                </a:solidFill>
                <a:latin typeface="Calibri"/>
              </a:rPr>
              <a:t>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23C"/>
                </a:solidFill>
                <a:latin typeface="Calibri"/>
              </a:rPr>
              <a:t>marża operacyjna w 2025 r.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[F-27]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5262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69087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7C80"/>
                </a:solidFill>
                <a:latin typeface="Calibri"/>
              </a:rPr>
              <a:t>81,59 mld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303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23C"/>
                </a:solidFill>
                <a:latin typeface="Calibri"/>
              </a:rPr>
              <a:t>gotówka, ekwiwalenty i papiery wartościowe na koniec 2025 r.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[F-14]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A36"/>
                </a:solidFill>
                <a:latin typeface="Calibri"/>
              </a:rPr>
              <a:t>AI i aplikacje: źródło zysków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Calibri"/>
              </a:rPr>
              <a:t>Family of Apps zarabia, Reality Labs inwestuje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 i="0">
                <a:solidFill>
                  <a:srgbClr val="26323C"/>
                </a:solidFill>
                <a:latin typeface="Calibri"/>
              </a:rPr>
              <a:t>Cel spółki w AI: budowa superinteligencji, czyli AI przewyższającej ludzką inteligencję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[F-29]</a:t>
            </a:r>
          </a:p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 i="0">
                <a:solidFill>
                  <a:srgbClr val="26323C"/>
                </a:solidFill>
                <a:latin typeface="Calibri"/>
              </a:rPr>
              <a:t>3,58 mld osób dziennie korzysta z aplikacji Meta (średnio w grudniu 2025 r.)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[F-28]</a:t>
            </a:r>
          </a:p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 i="0">
                <a:solidFill>
                  <a:srgbClr val="26323C"/>
                </a:solidFill>
                <a:latin typeface="Calibri"/>
              </a:rPr>
              <a:t>Przychody segmentu Family of Apps w 2025 r.: 198 759 mln USD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[F-18]</a:t>
            </a:r>
          </a:p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 i="0">
                <a:solidFill>
                  <a:srgbClr val="26323C"/>
                </a:solidFill>
                <a:latin typeface="Calibri"/>
              </a:rPr>
              <a:t>Zysk operacyjny Family of Apps: 102 469 mln USD; strata Reality Labs: -19 193 mln USD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[F-19, F-21]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600200"/>
          <a:ext cx="50292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5897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Źródło: nota 15, raport 10-K, s. 126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[F-18, F-20]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A36"/>
                </a:solidFill>
                <a:latin typeface="Calibri"/>
              </a:rPr>
              <a:t>Okulary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Calibri"/>
              </a:rPr>
              <a:t>Urządzenia noszone to główny kierunek Reality Labs</a:t>
            </a:r>
          </a:p>
        </p:txBody>
      </p:sp>
      <p:pic>
        <p:nvPicPr>
          <p:cNvPr id="4" name="Picture 3" descr="ray-ban-meta-gen-1-smart-glasses-with-charging-c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600200"/>
            <a:ext cx="524256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Okulary AI Ray-Ban Meta (1. generacja) z etui ładującym. Fot. CCadio, licencja CC BY 4.0, Wikimedia Commons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[G-01]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937760" cy="42519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3891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W 2025 r. spółka wprowadziła okulary Meta Ray-Ban Display z wyświetlaczem w szkle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[F-30]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W 2026 r. ok. 70% kosztów operacyjnych Reality Labs ma trafić na urządzenia noszone, w tym okulary AI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A36"/>
                </a:solidFill>
                <a:latin typeface="Calibri"/>
              </a:rPr>
              <a:t>Gogle VR Meta 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Calibri"/>
              </a:rPr>
              <a:t>Reality Labs: duże nakłady, małe przychody</a:t>
            </a:r>
          </a:p>
        </p:txBody>
      </p:sp>
      <p:pic>
        <p:nvPicPr>
          <p:cNvPr id="4" name="Picture 3" descr="meta-quest-3-front-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8999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326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Gogle VR Meta Quest 3 z kontrolerami. Fot. Roy.wonder.cohen, licencja CC BY-SA 4.0, Wikimedia Commons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[G-02]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937760" cy="42519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3891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Przychody Reality Labs w 2025 r.: 2 207 mln USD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[F-20]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Wynik operacyjny Reality Labs w 2025 r.: -19 193 mln USD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[F-21]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Na VR i Horizon ma trafić pozostała część kosztów operacyjnych Reality Labs w 2026 r.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A36"/>
                </a:solidFill>
                <a:latin typeface="Calibri"/>
              </a:rPr>
              <a:t>Centra danych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Calibri"/>
              </a:rPr>
              <a:t>Infrastruktura pod AI to największy wydatek spółki</a:t>
            </a:r>
          </a:p>
        </p:txBody>
      </p:sp>
      <p:pic>
        <p:nvPicPr>
          <p:cNvPr id="4" name="Picture 3" descr="facebook-highway-126-prineville-dpla-fd9c0cae95b43c5864c55d3eef1bf5a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904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Centrum danych Meta (dawniej Facebook) w Prineville w stanie Oregon, USA. Fot. Gary Halvorson, Oregon State Archives, licencja CC BY 4.0, Wikimedia Commons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[G-03]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937760" cy="42519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3891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Spółka ma 30 własnych lokalizacji centrów danych na świecie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[F-32]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Nakłady na rzeczowe aktywa trwałe w 2025 r.: 69 691 mln USD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[F-09]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 i="0">
                <a:solidFill>
                  <a:srgbClr val="26323C"/>
                </a:solidFill>
                <a:latin typeface="Calibri"/>
              </a:rPr>
              <a:t>Plan nakładów inwestycyjnych na 2026 r.: od 115 do 135 mld USD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[F-33, F-34]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A36"/>
                </a:solidFill>
                <a:latin typeface="Calibri"/>
              </a:rPr>
              <a:t>Wycena DCF: wartość wobec kursu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Calibri"/>
              </a:rPr>
              <a:t>Wynik modelu z pliku META_DCF.xlsx; zależy od przyjętych założeń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56692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69080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B03A2E"/>
                </a:solidFill>
                <a:latin typeface="Calibri"/>
              </a:rPr>
              <a:t>-51,4%</a:t>
            </a:r>
            <a:r>
              <a:rPr sz="1600" b="0" i="0">
                <a:solidFill>
                  <a:srgbClr val="26323C"/>
                </a:solidFill>
                <a:latin typeface="Calibri"/>
              </a:rPr>
              <a:t>  różnica wartości z DCF wobec kursu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[wycena, R-01]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6323C"/>
                </a:solidFill>
                <a:latin typeface="Calibri"/>
              </a:rPr>
              <a:t>Wartość firmy 849 830 mln USD, kapitał własny 872 678 mln USD; 89% wartości firmy pochodzi z okresu po 2030 r.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[wycena]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00200"/>
            <a:ext cx="5029200" cy="42519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03A2E"/>
                </a:solidFill>
                <a:latin typeface="Calibri"/>
              </a:rPr>
              <a:t>To są ZAŁOŻENIA, nie fakty</a:t>
            </a:r>
          </a:p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Przyjęte przez nas, z uzasadnieniem w ledgerze; zmiana założeń zmienia wynik.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69748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 i="0">
                <a:solidFill>
                  <a:srgbClr val="26323C"/>
                </a:solidFill>
                <a:latin typeface="Calibri"/>
              </a:rPr>
              <a:t>Wzrost przychodów: 18% w 2026 r., 8% w 2030 r.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[Z-01, Z-05]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 i="0">
                <a:solidFill>
                  <a:srgbClr val="26323C"/>
                </a:solidFill>
                <a:latin typeface="Calibri"/>
              </a:rPr>
              <a:t>Marża operacyjna po 2030 r.: 36%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[Z-11]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 i="0">
                <a:solidFill>
                  <a:srgbClr val="26323C"/>
                </a:solidFill>
                <a:latin typeface="Calibri"/>
              </a:rPr>
              <a:t>Nakłady inwestycyjne w 2026 r.: 52% przychodów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[Z-12]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 i="0">
                <a:solidFill>
                  <a:srgbClr val="26323C"/>
                </a:solidFill>
                <a:latin typeface="Calibri"/>
              </a:rPr>
              <a:t>WACC 11,1% = rentowność obligacji 5,10% + beta 1,2 × premia 5,0%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[wycena, R-02, Z-23, Z-24]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 i="0">
                <a:solidFill>
                  <a:srgbClr val="26323C"/>
                </a:solidFill>
                <a:latin typeface="Calibri"/>
              </a:rPr>
              <a:t>Wzrost po 2030 r.: 3,0% rocznie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[Z-25]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A36"/>
                </a:solidFill>
                <a:latin typeface="Calibri"/>
              </a:rPr>
              <a:t>Ryzyka i źródła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6035040" cy="132588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03A2E"/>
                </a:solidFill>
                <a:latin typeface="Calibri"/>
              </a:rPr>
              <a:t>Zależność od reklam</a:t>
            </a:r>
          </a:p>
          <a:p>
            <a:pPr algn="l"/>
            <a:r>
              <a:rPr sz="1300" b="0" i="0">
                <a:solidFill>
                  <a:srgbClr val="26323C"/>
                </a:solidFill>
                <a:latin typeface="Calibri"/>
              </a:rPr>
              <a:t>Niemal wszystkie przychody pochodzą z reklam; odejście reklamodawców lub cięcie ich wydatków mocno zaszkodzi spółce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[F-35]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10-K, s.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6035040" cy="132588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03A2E"/>
                </a:solidFill>
                <a:latin typeface="Calibri"/>
              </a:rPr>
              <a:t>Inwestycje w AI</a:t>
            </a:r>
          </a:p>
          <a:p>
            <a:pPr algn="l"/>
            <a:r>
              <a:rPr sz="1300" b="0" i="0">
                <a:solidFill>
                  <a:srgbClr val="26323C"/>
                </a:solidFill>
                <a:latin typeface="Calibri"/>
              </a:rPr>
              <a:t>Duże inwestycje, zwłaszcza w AI i Reality Labs, obniżają marżę operacyjną i rentowność; jeśli w dłuższym terminie się nie powiodą, ucierpią biznes i wyniki finansowe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[F-36]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10-K, s.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6035040" cy="132588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03A2E"/>
                </a:solidFill>
                <a:latin typeface="Calibri"/>
              </a:rPr>
              <a:t>Regulacje</a:t>
            </a:r>
          </a:p>
          <a:p>
            <a:pPr algn="l"/>
            <a:r>
              <a:rPr sz="1300" b="0" i="0">
                <a:solidFill>
                  <a:srgbClr val="26323C"/>
                </a:solidFill>
                <a:latin typeface="Calibri"/>
              </a:rPr>
              <a:t>Złożone i zmieniające się przepisy w USA i za granicą (prywatność, dane, konkurencja, AI)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[F-37]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10-K, s.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280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A36"/>
                </a:solidFill>
                <a:latin typeface="Calibri"/>
              </a:rPr>
              <a:t>Źródła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6323C"/>
                </a:solidFill>
                <a:latin typeface="Calibri"/>
              </a:rPr>
              <a:t>Meta Platforms, Inc. - raport roczny 10-K za 2025 r.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6323C"/>
                </a:solidFill>
                <a:latin typeface="Calibri"/>
              </a:rPr>
              <a:t>SEC EDGAR, strony: 6, 7, 12, 15, 26, 51, 61, 77, 88, 89, 92, 126, okładka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6323C"/>
                </a:solidFill>
                <a:latin typeface="Calibri"/>
              </a:rPr>
              <a:t>Yahoo Finance - chart API (odpowiedź JSON)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6323C"/>
                </a:solidFill>
                <a:latin typeface="Calibri"/>
              </a:rPr>
              <a:t>Kurs zamknięcia akcji META (Nasdaq), ostatnia sesja; zaokrąglony do centów; stan na 2026-10-16, pobrano 2026-10-17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[R-01]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6323C"/>
                </a:solidFill>
                <a:latin typeface="Calibri"/>
              </a:rPr>
              <a:t>FRED, Federal Reserve Bank of St. Louis - seria DGS10 (CSV)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6323C"/>
                </a:solidFill>
                <a:latin typeface="Calibri"/>
              </a:rPr>
              <a:t>Rentowność 10-letnich obligacji skarbowych USA (seria DGS10); stan na 2026-10-15, pobrano 2026-10-17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[R-02]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6323C"/>
                </a:solidFill>
                <a:latin typeface="Calibri"/>
              </a:rPr>
              <a:t>Wikimedia Commons - zdjęcia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6323C"/>
                </a:solidFill>
                <a:latin typeface="Calibri"/>
              </a:rPr>
              <a:t>CCadio (CC BY 4.0); Roy.wonder.cohen (CC BY-SA 4.0); Gary Halvorson, Oregon State Archives (CC BY 4.0)</a:t>
            </a:r>
            <a:r>
              <a:rPr sz="1000" b="0" i="0">
                <a:solidFill>
                  <a:srgbClr val="6B7785"/>
                </a:solidFill>
                <a:latin typeface="Calibri"/>
              </a:rPr>
              <a:t>  [G-01, G-02, G-03]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6323C"/>
                </a:solidFill>
                <a:latin typeface="Calibri"/>
              </a:rPr>
              <a:t>Ledger i weryfikacja</a:t>
            </a:r>
          </a:p>
          <a:p>
            <a:pPr algn="l"/>
            <a:r>
              <a:rPr sz="1200" b="0" i="0">
                <a:solidFill>
                  <a:srgbClr val="26323C"/>
                </a:solidFill>
                <a:latin typeface="Calibri"/>
              </a:rPr>
              <a:t>META/ledger.json: każdy wpis ze źródłem i cytatem, sprawdzony dwiema bramkami (skrypt i niezależny 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Calibri"/>
              </a:rPr>
              <a:t>META - pakiet analityczny. Dane: ledger.json i wycena.json; [id] = wpis ledgera.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 - pakiet analityczny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pl-PL</dc:language>
</cp:coreProperties>
</file>